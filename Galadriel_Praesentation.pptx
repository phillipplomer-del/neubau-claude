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27432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0" y="457200"/>
            <a:ext cx="1216152" cy="1216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GALADRIEL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0040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1E3A8A"/>
                </a:solidFill>
              </a:defRPr>
            </a:pPr>
            <a:r>
              <a:t>Business Intelligence Dashboard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114800"/>
            <a:ext cx="10360152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1F2937"/>
                </a:solidFill>
              </a:defRPr>
            </a:pPr>
            <a:r>
              <a:t>Integrierte Lösung für Sales, Produktion &amp; Projektmanagement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943600"/>
            <a:ext cx="11274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6B7280"/>
                </a:solidFill>
              </a:defRPr>
            </a:pPr>
            <a:r>
              <a:t>Dezember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E3A8A"/>
                </a:solidFill>
              </a:defRPr>
            </a:pPr>
            <a: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3B82F6"/>
                </a:solidFill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16459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F2937"/>
                </a:solidFill>
              </a:defRPr>
            </a:pPr>
            <a:r>
              <a:t>Projektübersicht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19659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B7280"/>
                </a:solidFill>
              </a:defRPr>
            </a:pPr>
            <a:r>
              <a:t>Was ist Galadriel?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77440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3B82F6"/>
                </a:solidFill>
              </a:defRPr>
            </a:pPr>
            <a: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237744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F2937"/>
                </a:solidFill>
              </a:defRPr>
            </a:pPr>
            <a:r>
              <a:t>Technologie-Stack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269748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B7280"/>
                </a:solidFill>
              </a:defRPr>
            </a:pPr>
            <a:r>
              <a:t>Moderne Architektur &amp; Tools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108960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3B82F6"/>
                </a:solidFill>
              </a:defRPr>
            </a:pPr>
            <a: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31089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F2937"/>
                </a:solidFill>
              </a:defRPr>
            </a:pPr>
            <a:r>
              <a:t>Module &amp; Features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34290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B7280"/>
                </a:solidFill>
              </a:defRPr>
            </a:pPr>
            <a:r>
              <a:t>Sales, Produktion, Projektmanagement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40480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3B82F6"/>
                </a:solidFill>
              </a:defRPr>
            </a:pPr>
            <a: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384048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F2937"/>
                </a:solidFill>
              </a:defRPr>
            </a:pPr>
            <a:r>
              <a:t>Datenarchitektur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416052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B7280"/>
                </a:solidFill>
              </a:defRPr>
            </a:pPr>
            <a:r>
              <a:t>IndexedDB &amp; Firebase Integration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572000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3B82F6"/>
                </a:solidFill>
              </a:defRPr>
            </a:pPr>
            <a:r>
              <a:t>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457200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F2937"/>
                </a:solidFill>
              </a:defRPr>
            </a:pPr>
            <a:r>
              <a:t>Demo &amp; Screenshots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489204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B7280"/>
                </a:solidFill>
              </a:defRPr>
            </a:pPr>
            <a:r>
              <a:t>Live-Einblicke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303520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3B82F6"/>
                </a:solidFill>
              </a:defRPr>
            </a:pPr>
            <a:r>
              <a:t>06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28800" y="5303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F2937"/>
                </a:solidFill>
              </a:defRPr>
            </a:pPr>
            <a:r>
              <a:t>Zusammenfassung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0" y="56235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B7280"/>
                </a:solidFill>
              </a:defRPr>
            </a:pPr>
            <a:r>
              <a:t>Vorteile &amp; nächste Schritte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E3A8A"/>
                </a:solidFill>
              </a:defRPr>
            </a:pPr>
            <a:r>
              <a:t>Projektübersicht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1F2937"/>
                </a:solidFill>
              </a:defRPr>
            </a:pPr>
            <a:r>
              <a:t>Galadriel ist ein modernes Business Intelligence Dashboard zur Verwaltung und Überwachung von Geschäftsdaten aus drei Kernbereichen.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560320"/>
            <a:ext cx="3474720" cy="320040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2560320"/>
            <a:ext cx="3474720" cy="5486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606040"/>
            <a:ext cx="3291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Sales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91840"/>
            <a:ext cx="31089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400">
                <a:solidFill>
                  <a:srgbClr val="1F2937"/>
                </a:solidFill>
              </a:defRPr>
            </a:pPr>
            <a:r>
              <a:t>• Offene Lieferungen</a:t>
            </a:r>
          </a:p>
          <a:p>
            <a:pPr>
              <a:spcBef>
                <a:spcPts val="800"/>
              </a:spcBef>
              <a:defRPr sz="1400">
                <a:solidFill>
                  <a:srgbClr val="1F2937"/>
                </a:solidFill>
              </a:defRPr>
            </a:pPr>
            <a:r>
              <a:t>• Kundenaufträge</a:t>
            </a:r>
          </a:p>
          <a:p>
            <a:pPr>
              <a:spcBef>
                <a:spcPts val="800"/>
              </a:spcBef>
              <a:defRPr sz="1400">
                <a:solidFill>
                  <a:srgbClr val="1F2937"/>
                </a:solidFill>
              </a:defRPr>
            </a:pPr>
            <a:r>
              <a:t>• Lieferstatus-Tracking</a:t>
            </a:r>
          </a:p>
          <a:p>
            <a:pPr>
              <a:spcBef>
                <a:spcPts val="800"/>
              </a:spcBef>
              <a:defRPr sz="1400">
                <a:solidFill>
                  <a:srgbClr val="1F2937"/>
                </a:solidFill>
              </a:defRPr>
            </a:pPr>
            <a:r>
              <a:t>• KPI-Überwachung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06240" y="2560320"/>
            <a:ext cx="3474720" cy="320040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06240" y="2560320"/>
            <a:ext cx="3474720" cy="5486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79" y="2606040"/>
            <a:ext cx="3291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Produktion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3291840"/>
            <a:ext cx="31089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400">
                <a:solidFill>
                  <a:srgbClr val="1F2937"/>
                </a:solidFill>
              </a:defRPr>
            </a:pPr>
            <a:r>
              <a:t>• Produktionsplanung</a:t>
            </a:r>
          </a:p>
          <a:p>
            <a:pPr>
              <a:spcBef>
                <a:spcPts val="800"/>
              </a:spcBef>
              <a:defRPr sz="1400">
                <a:solidFill>
                  <a:srgbClr val="1F2937"/>
                </a:solidFill>
              </a:defRPr>
            </a:pPr>
            <a:r>
              <a:t>• Soll-Ist Vergleiche</a:t>
            </a:r>
          </a:p>
          <a:p>
            <a:pPr>
              <a:spcBef>
                <a:spcPts val="800"/>
              </a:spcBef>
              <a:defRPr sz="1400">
                <a:solidFill>
                  <a:srgbClr val="1F2937"/>
                </a:solidFill>
              </a:defRPr>
            </a:pPr>
            <a:r>
              <a:t>• Zeitplanung</a:t>
            </a:r>
          </a:p>
          <a:p>
            <a:pPr>
              <a:spcBef>
                <a:spcPts val="800"/>
              </a:spcBef>
              <a:defRPr sz="1400">
                <a:solidFill>
                  <a:srgbClr val="1F2937"/>
                </a:solidFill>
              </a:defRPr>
            </a:pPr>
            <a:r>
              <a:t>• Ressourcenverwaltung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79" y="2560320"/>
            <a:ext cx="3474720" cy="320040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55279" y="2560320"/>
            <a:ext cx="3474720" cy="54864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19" y="2606040"/>
            <a:ext cx="3291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Projektmanagement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59" y="3291840"/>
            <a:ext cx="31089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400">
                <a:solidFill>
                  <a:srgbClr val="1F2937"/>
                </a:solidFill>
              </a:defRPr>
            </a:pPr>
            <a:r>
              <a:t>• Projekt-Controlling</a:t>
            </a:r>
          </a:p>
          <a:p>
            <a:pPr>
              <a:spcBef>
                <a:spcPts val="800"/>
              </a:spcBef>
              <a:defRPr sz="1400">
                <a:solidFill>
                  <a:srgbClr val="1F2937"/>
                </a:solidFill>
              </a:defRPr>
            </a:pPr>
            <a:r>
              <a:t>• Budget-Überwachung</a:t>
            </a:r>
          </a:p>
          <a:p>
            <a:pPr>
              <a:spcBef>
                <a:spcPts val="800"/>
              </a:spcBef>
              <a:defRPr sz="1400">
                <a:solidFill>
                  <a:srgbClr val="1F2937"/>
                </a:solidFill>
              </a:defRPr>
            </a:pPr>
            <a:r>
              <a:t>• Profitabilitätsanalyse</a:t>
            </a:r>
          </a:p>
          <a:p>
            <a:pPr>
              <a:spcBef>
                <a:spcPts val="800"/>
              </a:spcBef>
              <a:defRPr sz="1400">
                <a:solidFill>
                  <a:srgbClr val="1F2937"/>
                </a:solidFill>
              </a:defRPr>
            </a:pPr>
            <a:r>
              <a:t>• Trend-Analysen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E3A8A"/>
                </a:solidFill>
              </a:defRPr>
            </a:pPr>
            <a:r>
              <a:t>Technologie-Stack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E3A8A"/>
                </a:solidFill>
              </a:defRPr>
            </a:pPr>
            <a:r>
              <a:t>Frontend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011680"/>
            <a:ext cx="3474720" cy="502920"/>
          </a:xfrm>
          <a:prstGeom prst="roundRect">
            <a:avLst/>
          </a:prstGeom>
          <a:solidFill>
            <a:srgbClr val="EFF6FF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210312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F2937"/>
                </a:solidFill>
              </a:defRPr>
            </a:pPr>
            <a:r>
              <a:t>React 18.3 + TypeScript 5.7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3474720" cy="502920"/>
          </a:xfrm>
          <a:prstGeom prst="roundRect">
            <a:avLst/>
          </a:prstGeom>
          <a:solidFill>
            <a:srgbClr val="EFF6FF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274320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F2937"/>
                </a:solidFill>
              </a:defRPr>
            </a:pPr>
            <a:r>
              <a:t>Vite 6.0 (Build Tool)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291840"/>
            <a:ext cx="3474720" cy="502920"/>
          </a:xfrm>
          <a:prstGeom prst="roundRect">
            <a:avLst/>
          </a:prstGeom>
          <a:solidFill>
            <a:srgbClr val="EFF6FF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3383279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F2937"/>
                </a:solidFill>
              </a:defRPr>
            </a:pPr>
            <a:r>
              <a:t>TailwindCSS 3.4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146304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E3A8A"/>
                </a:solidFill>
              </a:defRPr>
            </a:pPr>
            <a:r>
              <a:t>UI/Charts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800" y="2011680"/>
            <a:ext cx="3474720" cy="502920"/>
          </a:xfrm>
          <a:prstGeom prst="roundRect">
            <a:avLst/>
          </a:prstGeom>
          <a:solidFill>
            <a:srgbClr val="EFF6FF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51960" y="210312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F2937"/>
                </a:solidFill>
              </a:defRPr>
            </a:pPr>
            <a:r>
              <a:t>Recharts (Datenvisualisierung)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4800" y="2651760"/>
            <a:ext cx="3474720" cy="502920"/>
          </a:xfrm>
          <a:prstGeom prst="roundRect">
            <a:avLst/>
          </a:prstGeom>
          <a:solidFill>
            <a:srgbClr val="EFF6FF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51960" y="274320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F2937"/>
                </a:solidFill>
              </a:defRPr>
            </a:pPr>
            <a:r>
              <a:t>TanStack Table (Tabellen)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14800" y="3291840"/>
            <a:ext cx="3474720" cy="502920"/>
          </a:xfrm>
          <a:prstGeom prst="roundRect">
            <a:avLst/>
          </a:prstGeom>
          <a:solidFill>
            <a:srgbClr val="EFF6FF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51960" y="3383279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F2937"/>
                </a:solidFill>
              </a:defRPr>
            </a:pPr>
            <a:r>
              <a:t>Frappe-Gantt (Zeitplanung)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146304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E3A8A"/>
                </a:solidFill>
              </a:defRPr>
            </a:pPr>
            <a:r>
              <a:t>Daten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0" y="2011680"/>
            <a:ext cx="3474720" cy="502920"/>
          </a:xfrm>
          <a:prstGeom prst="roundRect">
            <a:avLst/>
          </a:prstGeom>
          <a:solidFill>
            <a:srgbClr val="EFF6FF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09560" y="210312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F2937"/>
                </a:solidFill>
              </a:defRPr>
            </a:pPr>
            <a:r>
              <a:t>IndexedDB (Offline-First)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0" y="2651760"/>
            <a:ext cx="3474720" cy="502920"/>
          </a:xfrm>
          <a:prstGeom prst="roundRect">
            <a:avLst/>
          </a:prstGeom>
          <a:solidFill>
            <a:srgbClr val="EFF6FF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09560" y="274320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F2937"/>
                </a:solidFill>
              </a:defRPr>
            </a:pPr>
            <a:r>
              <a:t>Firebase Firestore (Cloud)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72400" y="3291840"/>
            <a:ext cx="3474720" cy="502920"/>
          </a:xfrm>
          <a:prstGeom prst="roundRect">
            <a:avLst/>
          </a:prstGeom>
          <a:solidFill>
            <a:srgbClr val="EFF6FF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09560" y="3383279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F2937"/>
                </a:solidFill>
              </a:defRPr>
            </a:pPr>
            <a:r>
              <a:t>XLSX Parser (Excel-Import)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4114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F2937"/>
                </a:solidFill>
              </a:defRPr>
            </a:pPr>
            <a:r>
              <a:t>Weitere Technologien: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457200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B7280"/>
                </a:solidFill>
              </a:defRPr>
            </a:pPr>
            <a:r>
              <a:t>• React Hook Form + Zod (Formular-Validierung)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0" y="457200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B7280"/>
                </a:solidFill>
              </a:defRPr>
            </a:pPr>
            <a:r>
              <a:t>• jsPDF + HTML2Canvas (PDF-Export)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502920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B7280"/>
                </a:solidFill>
              </a:defRPr>
            </a:pPr>
            <a:r>
              <a:t>• Date-fns (Datumsverarbeitung)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0" y="502920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B7280"/>
                </a:solidFill>
              </a:defRPr>
            </a:pPr>
            <a:r>
              <a:t>• Lucide React (Icon-Bibliothek)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E3A8A"/>
                </a:solidFill>
              </a:defRPr>
            </a:pPr>
            <a:r>
              <a:t>Sales-Modul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B7280"/>
                </a:solidFill>
              </a:defRPr>
            </a:pPr>
            <a:r>
              <a:t>Zentrales Dashboard zur Überwachung aller offenen Lieferungen und Kundenaufträge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3A8A"/>
                </a:solidFill>
              </a:defRPr>
            </a:pPr>
            <a:r>
              <a:t>✓ Dashboard &amp; KPIs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488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F2937"/>
                </a:solidFill>
              </a:defRPr>
            </a:pPr>
            <a:r>
              <a:t>Übersicht mit Gesamtwert, verzögerten Lieferungen und Status-Verteilung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834640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3A8A"/>
                </a:solidFill>
              </a:defRPr>
            </a:pPr>
            <a:r>
              <a:t>✓ Filterbare Tabellen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15468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F2937"/>
                </a:solidFill>
              </a:defRPr>
            </a:pPr>
            <a:r>
              <a:t>Nach Artikelnummer, Projektnummer, Datum und Freitext filterbar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840480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3A8A"/>
                </a:solidFill>
              </a:defRPr>
            </a:pPr>
            <a:r>
              <a:t>✓ Gruppierte Ansicht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16052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F2937"/>
                </a:solidFill>
              </a:defRPr>
            </a:pPr>
            <a:r>
              <a:t>Projekte gruppiert für 'Beobachtete' Lieferungen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846320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3A8A"/>
                </a:solidFill>
              </a:defRPr>
            </a:pPr>
            <a:r>
              <a:t>✓ PDF-Export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1663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F2937"/>
                </a:solidFill>
              </a:defRPr>
            </a:pPr>
            <a:r>
              <a:t>Automatische KPI-Zusammenfassung als PDF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1828800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3A8A"/>
                </a:solidFill>
              </a:defRPr>
            </a:pPr>
            <a:r>
              <a:t>✓ Kommentar-System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1488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F2937"/>
                </a:solidFill>
              </a:defRPr>
            </a:pPr>
            <a:r>
              <a:t>Status-Markierung: Kritisch, Gefährdet, Beobachtet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2834640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3A8A"/>
                </a:solidFill>
              </a:defRPr>
            </a:pPr>
            <a:r>
              <a:t>✓ Firebase-Sync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315468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F2937"/>
                </a:solidFill>
              </a:defRPr>
            </a:pPr>
            <a:r>
              <a:t>Echtzeit-Synchronisation aller Kommentare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3840480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3A8A"/>
                </a:solidFill>
              </a:defRPr>
            </a:pPr>
            <a:r>
              <a:t>✓ Status-Updates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416052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F2937"/>
                </a:solidFill>
              </a:defRPr>
            </a:pPr>
            <a:r>
              <a:t>Live-Tracking kritischer Lieferungen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4846320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3A8A"/>
                </a:solidFill>
              </a:defRPr>
            </a:pPr>
            <a:r>
              <a:t>✓ Sortierung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51663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F2937"/>
                </a:solidFill>
              </a:defRPr>
            </a:pPr>
            <a:r>
              <a:t>Flexible Sortierung nach allen Spalten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E3A8A"/>
                </a:solidFill>
              </a:defRPr>
            </a:pPr>
            <a:r>
              <a:t>Projektmanagement &amp; Controlling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B7280"/>
                </a:solidFill>
              </a:defRPr>
            </a:pPr>
            <a:r>
              <a:t>Umfassende Analyse-Tools für Projekt-Performance und Finanzübersicht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828800"/>
            <a:ext cx="2468880" cy="137160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92024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Projekte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3774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Gesamtübersicht</a:t>
            </a:r>
            <a:br/>
            <a:r>
              <a:t>aller Projekte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108960" y="1828800"/>
            <a:ext cx="2468880" cy="137160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0" y="192024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Budget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23774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Budget vs.</a:t>
            </a:r>
            <a:br/>
            <a:r>
              <a:t>Actual Kosten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760720" y="1828800"/>
            <a:ext cx="2468880" cy="1371600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52159" y="192024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ROI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59" y="23774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Return on</a:t>
            </a:r>
            <a:br/>
            <a:r>
              <a:t>Investment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412480" y="1828800"/>
            <a:ext cx="2468880" cy="1371600"/>
          </a:xfrm>
          <a:prstGeom prst="round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19" y="192024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Gewinn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19" y="23774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Gewinnmargen-</a:t>
            </a:r>
            <a:br/>
            <a:r>
              <a:t>Berechnung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4747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F2937"/>
                </a:solidFill>
              </a:defRPr>
            </a:pPr>
            <a:r>
              <a:t>Verfügbare Visualisierungen:</a:t>
            </a:r>
          </a:p>
        </p:txBody>
      </p:sp>
      <p:sp>
        <p:nvSpPr>
          <p:cNvPr id="18" name="Oval 17"/>
          <p:cNvSpPr/>
          <p:nvPr/>
        </p:nvSpPr>
        <p:spPr>
          <a:xfrm>
            <a:off x="457200" y="4023360"/>
            <a:ext cx="365760" cy="36576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977639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3A8A"/>
                </a:solidFill>
              </a:defRPr>
            </a:pPr>
            <a:r>
              <a:t>Zeitreihen-Charts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29768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B7280"/>
                </a:solidFill>
              </a:defRPr>
            </a:pPr>
            <a:r>
              <a:t>Trend-Analyse über Monate/Jahre</a:t>
            </a:r>
          </a:p>
        </p:txBody>
      </p:sp>
      <p:sp>
        <p:nvSpPr>
          <p:cNvPr id="21" name="Oval 20"/>
          <p:cNvSpPr/>
          <p:nvPr/>
        </p:nvSpPr>
        <p:spPr>
          <a:xfrm>
            <a:off x="6217920" y="4023360"/>
            <a:ext cx="365760" cy="36576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75120" y="3977639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3A8A"/>
                </a:solidFill>
              </a:defRPr>
            </a:pPr>
            <a:r>
              <a:t>Bar-Charts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429768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B7280"/>
                </a:solidFill>
              </a:defRPr>
            </a:pPr>
            <a:r>
              <a:t>Budget vs. Actual Vergleich</a:t>
            </a:r>
          </a:p>
        </p:txBody>
      </p:sp>
      <p:sp>
        <p:nvSpPr>
          <p:cNvPr id="24" name="Oval 23"/>
          <p:cNvSpPr/>
          <p:nvPr/>
        </p:nvSpPr>
        <p:spPr>
          <a:xfrm>
            <a:off x="457200" y="5120640"/>
            <a:ext cx="365760" cy="36576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507492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3A8A"/>
                </a:solidFill>
              </a:defRPr>
            </a:pPr>
            <a:r>
              <a:t>Pie-Charts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539496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B7280"/>
                </a:solidFill>
              </a:defRPr>
            </a:pPr>
            <a:r>
              <a:t>Verteilung nach Manager &amp; Kategorie</a:t>
            </a:r>
          </a:p>
        </p:txBody>
      </p:sp>
      <p:sp>
        <p:nvSpPr>
          <p:cNvPr id="27" name="Oval 26"/>
          <p:cNvSpPr/>
          <p:nvPr/>
        </p:nvSpPr>
        <p:spPr>
          <a:xfrm>
            <a:off x="6217920" y="5120640"/>
            <a:ext cx="365760" cy="36576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75120" y="507492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3A8A"/>
                </a:solidFill>
              </a:defRPr>
            </a:pPr>
            <a:r>
              <a:t>PDF-Reports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75120" y="539496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B7280"/>
                </a:solidFill>
              </a:defRPr>
            </a:pPr>
            <a:r>
              <a:t>Exportierbare Controlling-Berichte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E3A8A"/>
                </a:solidFill>
              </a:defRPr>
            </a:pPr>
            <a:r>
              <a:t>Datenabgleich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B7280"/>
                </a:solidFill>
              </a:defRPr>
            </a:pPr>
            <a:r>
              <a:t>Cross-Department-Vergleich für Datenqualität und Konsistenzprüfung</a:t>
            </a:r>
          </a:p>
        </p:txBody>
      </p:sp>
      <p:sp>
        <p:nvSpPr>
          <p:cNvPr id="5" name="Oval 4"/>
          <p:cNvSpPr/>
          <p:nvPr/>
        </p:nvSpPr>
        <p:spPr>
          <a:xfrm>
            <a:off x="3200400" y="2286000"/>
            <a:ext cx="2286000" cy="2286000"/>
          </a:xfrm>
          <a:prstGeom prst="ellipse">
            <a:avLst/>
          </a:prstGeom>
          <a:solidFill>
            <a:srgbClr val="BFDBFE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474720" y="3108960"/>
            <a:ext cx="1737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F2937"/>
                </a:solidFill>
              </a:defRPr>
            </a:pPr>
            <a:r>
              <a:t>Sales</a:t>
            </a:r>
          </a:p>
        </p:txBody>
      </p:sp>
      <p:sp>
        <p:nvSpPr>
          <p:cNvPr id="7" name="Oval 6"/>
          <p:cNvSpPr/>
          <p:nvPr/>
        </p:nvSpPr>
        <p:spPr>
          <a:xfrm>
            <a:off x="5029200" y="2286000"/>
            <a:ext cx="2286000" cy="2286000"/>
          </a:xfrm>
          <a:prstGeom prst="ellipse">
            <a:avLst/>
          </a:prstGeom>
          <a:solidFill>
            <a:srgbClr val="BBF7D0"/>
          </a:solidFill>
          <a:ln w="254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0" y="3108960"/>
            <a:ext cx="1737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F2937"/>
                </a:solidFill>
              </a:defRPr>
            </a:pPr>
            <a:r>
              <a:t>Produktion</a:t>
            </a:r>
          </a:p>
        </p:txBody>
      </p:sp>
      <p:sp>
        <p:nvSpPr>
          <p:cNvPr id="9" name="Oval 8"/>
          <p:cNvSpPr/>
          <p:nvPr/>
        </p:nvSpPr>
        <p:spPr>
          <a:xfrm>
            <a:off x="4114800" y="3657600"/>
            <a:ext cx="2286000" cy="2286000"/>
          </a:xfrm>
          <a:prstGeom prst="ellipse">
            <a:avLst/>
          </a:prstGeom>
          <a:solidFill>
            <a:srgbClr val="FED7AA"/>
          </a:solidFill>
          <a:ln w="254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0" y="4480560"/>
            <a:ext cx="1737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F2937"/>
                </a:solidFill>
              </a:defRPr>
            </a:pPr>
            <a:r>
              <a:t>Projekt-</a:t>
            </a:r>
            <a:br/>
            <a:r>
              <a:t>management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182880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F2937"/>
                </a:solidFill>
              </a:defRPr>
            </a:pPr>
            <a:r>
              <a:t>Funktionen: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228600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F2937"/>
                </a:solidFill>
              </a:defRPr>
            </a:pPr>
            <a:r>
              <a:t>✓ Projektnummern-Vergleich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274320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F2937"/>
                </a:solidFill>
              </a:defRPr>
            </a:pPr>
            <a:r>
              <a:t>✓ Artikelnummern-Matching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320040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F2937"/>
                </a:solidFill>
              </a:defRPr>
            </a:pPr>
            <a:r>
              <a:t>✓ Überlappungs-Filter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365760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F2937"/>
                </a:solidFill>
              </a:defRPr>
            </a:pPr>
            <a:r>
              <a:t>✓ Visuelle Status-Indikatoren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411480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F2937"/>
                </a:solidFill>
              </a:defRPr>
            </a:pPr>
            <a:r>
              <a:t>✓ Datenqualitäts-Analyse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E3A8A"/>
                </a:solidFill>
              </a:defRPr>
            </a:pPr>
            <a:r>
              <a:t>Datenarchitektur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B7280"/>
                </a:solidFill>
              </a:defRPr>
            </a:pPr>
            <a:r>
              <a:t>Offline-First Architektur mit Cloud-Synchronisation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914400"/>
            <a:ext cx="5029200" cy="914400"/>
          </a:xfrm>
          <a:prstGeom prst="roundRect">
            <a:avLst/>
          </a:prstGeom>
          <a:solidFill>
            <a:srgbClr val="FEF3C7"/>
          </a:solidFill>
          <a:ln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00584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F2937"/>
                </a:solidFill>
              </a:defRPr>
            </a:pPr>
            <a:r>
              <a:t>Excel Import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B7280"/>
                </a:solidFill>
              </a:defRPr>
            </a:pPr>
            <a:r>
              <a:t>XLSX-Parser mit Auto-Detection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011680"/>
            <a:ext cx="5029200" cy="914400"/>
          </a:xfrm>
          <a:prstGeom prst="roundRect">
            <a:avLst/>
          </a:prstGeom>
          <a:solidFill>
            <a:srgbClr val="FEE2E2"/>
          </a:solidFill>
          <a:ln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10312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F2937"/>
                </a:solidFill>
              </a:defRPr>
            </a:pPr>
            <a:r>
              <a:t>Validierung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46888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B7280"/>
                </a:solidFill>
              </a:defRPr>
            </a:pPr>
            <a:r>
              <a:t>Zod Schema-Validierung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108960"/>
            <a:ext cx="5029200" cy="914400"/>
          </a:xfrm>
          <a:prstGeom prst="roundRect">
            <a:avLst/>
          </a:prstGeom>
          <a:solidFill>
            <a:srgbClr val="DBEAFE"/>
          </a:solidFill>
          <a:ln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20040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F2937"/>
                </a:solidFill>
              </a:defRPr>
            </a:pPr>
            <a:r>
              <a:t>IndexedDB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56616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B7280"/>
                </a:solidFill>
              </a:defRPr>
            </a:pPr>
            <a:r>
              <a:t>Lokale Offline-Speicherung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206240"/>
            <a:ext cx="5029200" cy="914400"/>
          </a:xfrm>
          <a:prstGeom prst="roundRect">
            <a:avLst/>
          </a:prstGeom>
          <a:solidFill>
            <a:srgbClr val="DCFCE7"/>
          </a:solidFill>
          <a:ln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29768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F2937"/>
                </a:solidFill>
              </a:defRPr>
            </a:pPr>
            <a:r>
              <a:t>Firebase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66344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B7280"/>
                </a:solidFill>
              </a:defRPr>
            </a:pPr>
            <a:r>
              <a:t>Cloud-Sync für Kommentare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303520"/>
            <a:ext cx="5029200" cy="914400"/>
          </a:xfrm>
          <a:prstGeom prst="roundRect">
            <a:avLst/>
          </a:prstGeom>
          <a:solidFill>
            <a:srgbClr val="F3E8FF"/>
          </a:solidFill>
          <a:ln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539496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F2937"/>
                </a:solidFill>
              </a:defRPr>
            </a:pPr>
            <a:r>
              <a:t>React UI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76072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B7280"/>
                </a:solidFill>
              </a:defRPr>
            </a:pPr>
            <a:r>
              <a:t>Interaktive Dashboards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182880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E3A8A"/>
                </a:solidFill>
              </a:defRPr>
            </a:pPr>
            <a:r>
              <a:t>Vorteile der Architektur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2377440"/>
            <a:ext cx="5029200" cy="685800"/>
          </a:xfrm>
          <a:prstGeom prst="roundRect">
            <a:avLst/>
          </a:prstGeom>
          <a:solidFill>
            <a:srgbClr val="F8FAFC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0" y="242316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E3A8A"/>
                </a:solidFill>
              </a:defRPr>
            </a:pPr>
            <a:r>
              <a:t>Offline-Fähig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269748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B7280"/>
                </a:solidFill>
              </a:defRPr>
            </a:pPr>
            <a:r>
              <a:t>Daten immer verfügbar, auch ohne Internet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0" y="3154680"/>
            <a:ext cx="5029200" cy="685800"/>
          </a:xfrm>
          <a:prstGeom prst="roundRect">
            <a:avLst/>
          </a:prstGeom>
          <a:solidFill>
            <a:srgbClr val="F8FAFC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0" y="320040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E3A8A"/>
                </a:solidFill>
              </a:defRPr>
            </a:pPr>
            <a:r>
              <a:t>Schnelle Performance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347472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B7280"/>
                </a:solidFill>
              </a:defRPr>
            </a:pPr>
            <a:r>
              <a:t>Lokale Daten = blitzschnelle Abfragen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0" y="3931920"/>
            <a:ext cx="5029200" cy="685800"/>
          </a:xfrm>
          <a:prstGeom prst="roundRect">
            <a:avLst/>
          </a:prstGeom>
          <a:solidFill>
            <a:srgbClr val="F8FAFC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0" y="3977639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E3A8A"/>
                </a:solidFill>
              </a:defRPr>
            </a:pPr>
            <a:r>
              <a:t>Cloud-Backup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425196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B7280"/>
                </a:solidFill>
              </a:defRPr>
            </a:pPr>
            <a:r>
              <a:t>Kommentare in Firebase gesichert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0" y="4709160"/>
            <a:ext cx="5029200" cy="685800"/>
          </a:xfrm>
          <a:prstGeom prst="roundRect">
            <a:avLst/>
          </a:prstGeom>
          <a:solidFill>
            <a:srgbClr val="F8FAFC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0" y="4754879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E3A8A"/>
                </a:solidFill>
              </a:defRPr>
            </a:pPr>
            <a:r>
              <a:t>Skalierbar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502920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B7280"/>
                </a:solidFill>
              </a:defRPr>
            </a:pPr>
            <a:r>
              <a:t>Große Datenmengen problemlos möglich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0" y="5486400"/>
            <a:ext cx="5029200" cy="685800"/>
          </a:xfrm>
          <a:prstGeom prst="roundRect">
            <a:avLst/>
          </a:prstGeom>
          <a:solidFill>
            <a:srgbClr val="F8FAFC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83680" y="553212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E3A8A"/>
                </a:solidFill>
              </a:defRPr>
            </a:pPr>
            <a:r>
              <a:t>Sicher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0" y="580644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B7280"/>
                </a:solidFill>
              </a:defRPr>
            </a:pPr>
            <a:r>
              <a:t>Keine sensiblen Daten in der Cloud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E3A8A"/>
                </a:solidFill>
              </a:defRPr>
            </a:pPr>
            <a:r>
              <a:t>Excel-Import System</a:t>
            </a:r>
          </a:p>
        </p:txBody>
      </p:sp>
      <p:sp>
        <p:nvSpPr>
          <p:cNvPr id="4" name="Oval 3"/>
          <p:cNvSpPr/>
          <p:nvPr/>
        </p:nvSpPr>
        <p:spPr>
          <a:xfrm>
            <a:off x="1005840" y="1828800"/>
            <a:ext cx="731520" cy="731520"/>
          </a:xfrm>
          <a:prstGeom prst="ellipse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92024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1F2937"/>
                </a:solidFill>
              </a:defRPr>
            </a:pPr>
            <a:r>
              <a:t>Upload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1089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6B7280"/>
                </a:solidFill>
              </a:defRPr>
            </a:pPr>
            <a:r>
              <a:t>Multi-File Drag &amp; Drop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286000" y="2011680"/>
            <a:ext cx="365760" cy="365760"/>
          </a:xfrm>
          <a:prstGeom prst="rightArrow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291840" y="1828800"/>
            <a:ext cx="731520" cy="731520"/>
          </a:xfrm>
          <a:prstGeom prst="ellipse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0" y="192024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27432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1F2937"/>
                </a:solidFill>
              </a:defRPr>
            </a:pPr>
            <a:r>
              <a:t>Validierung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31089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6B7280"/>
                </a:solidFill>
              </a:defRPr>
            </a:pPr>
            <a:r>
              <a:t>Schema-Prüfung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572000" y="2011680"/>
            <a:ext cx="365760" cy="365760"/>
          </a:xfrm>
          <a:prstGeom prst="rightArrow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577840" y="1828800"/>
            <a:ext cx="731520" cy="731520"/>
          </a:xfrm>
          <a:prstGeom prst="ellipse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0" y="192024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27432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1F2937"/>
                </a:solidFill>
              </a:defRPr>
            </a:pPr>
            <a:r>
              <a:t>Mapping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0" y="31089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6B7280"/>
                </a:solidFill>
              </a:defRPr>
            </a:pPr>
            <a:r>
              <a:t>Spalten-Zuordnung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6858000" y="2011680"/>
            <a:ext cx="365760" cy="365760"/>
          </a:xfrm>
          <a:prstGeom prst="rightArrow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863840" y="1828800"/>
            <a:ext cx="731520" cy="731520"/>
          </a:xfrm>
          <a:prstGeom prst="ellipse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55279" y="192024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0" y="27432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1F2937"/>
                </a:solidFill>
              </a:defRPr>
            </a:pPr>
            <a:r>
              <a:t>Import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0" y="31089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6B7280"/>
                </a:solidFill>
              </a:defRPr>
            </a:pPr>
            <a:r>
              <a:t>IndexedDB Speicherung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9144000" y="2011680"/>
            <a:ext cx="365760" cy="365760"/>
          </a:xfrm>
          <a:prstGeom prst="rightArrow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149840" y="1828800"/>
            <a:ext cx="731520" cy="731520"/>
          </a:xfrm>
          <a:prstGeom prst="ellipse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241280" y="192024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0" y="27432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1F2937"/>
                </a:solidFill>
              </a:defRPr>
            </a:pPr>
            <a:r>
              <a:t>Fertig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0" y="31089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6B7280"/>
                </a:solidFill>
              </a:defRPr>
            </a:pPr>
            <a:r>
              <a:t>Dashboard aktualisiert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4114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F2937"/>
                </a:solidFill>
              </a:defRPr>
            </a:pPr>
            <a:r>
              <a:t>Import-Features: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4572000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E3A8A"/>
                </a:solidFill>
              </a:defRPr>
            </a:pPr>
            <a:r>
              <a:t>✓ Automatische Spalten-Erkennung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4846320"/>
            <a:ext cx="4846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B7280"/>
                </a:solidFill>
              </a:defRPr>
            </a:pPr>
            <a:r>
              <a:t>System erkennt Datentypen automatisch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7920" y="4572000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E3A8A"/>
                </a:solidFill>
              </a:defRPr>
            </a:pPr>
            <a:r>
              <a:t>✓ Fortschrittsanzeige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4846320"/>
            <a:ext cx="4846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B7280"/>
                </a:solidFill>
              </a:defRPr>
            </a:pPr>
            <a:r>
              <a:t>Visuelle Rückmeldung während des Imports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5394960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E3A8A"/>
                </a:solidFill>
              </a:defRPr>
            </a:pPr>
            <a:r>
              <a:t>✓ Validierungsergebnisse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5669280"/>
            <a:ext cx="4846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B7280"/>
                </a:solidFill>
              </a:defRPr>
            </a:pPr>
            <a:r>
              <a:t>Klare Fehler- und Warnmeldungen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17920" y="5394960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E3A8A"/>
                </a:solidFill>
              </a:defRPr>
            </a:pPr>
            <a:r>
              <a:t>✓ Multi-Department Support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0" y="5669280"/>
            <a:ext cx="4846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B7280"/>
                </a:solidFill>
              </a:defRPr>
            </a:pPr>
            <a:r>
              <a:t>Sales, Produktion &amp; Projekte in einem Import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E3A8A"/>
                </a:solidFill>
              </a:defRPr>
            </a:pPr>
            <a:r>
              <a:t>Zusammenfassung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5303520" cy="1097280"/>
          </a:xfrm>
          <a:prstGeom prst="roundRect">
            <a:avLst/>
          </a:prstGeom>
          <a:solidFill>
            <a:srgbClr val="F8FAFC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40080" y="1645920"/>
            <a:ext cx="457200" cy="457200"/>
          </a:xfrm>
          <a:prstGeom prst="ellipse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155448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3A8A"/>
                </a:solidFill>
              </a:defRPr>
            </a:pPr>
            <a:r>
              <a:t>Integrierte Lösung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192024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F2937"/>
                </a:solidFill>
              </a:defRPr>
            </a:pPr>
            <a:r>
              <a:t>Ein System für Sales, Produktion und Projektmanagement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303520" cy="1097280"/>
          </a:xfrm>
          <a:prstGeom prst="roundRect">
            <a:avLst/>
          </a:prstGeom>
          <a:solidFill>
            <a:srgbClr val="F8FAFC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400800" y="1645920"/>
            <a:ext cx="457200" cy="457200"/>
          </a:xfrm>
          <a:prstGeom prst="ellipse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40879" y="155448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3A8A"/>
                </a:solidFill>
              </a:defRPr>
            </a:pPr>
            <a:r>
              <a:t>Offline-First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79" y="192024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F2937"/>
                </a:solidFill>
              </a:defRPr>
            </a:pPr>
            <a:r>
              <a:t>Zuverlässige Performance, auch ohne Internetverbindung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743200"/>
            <a:ext cx="5303520" cy="1097280"/>
          </a:xfrm>
          <a:prstGeom prst="roundRect">
            <a:avLst/>
          </a:prstGeom>
          <a:solidFill>
            <a:srgbClr val="F8FAFC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0080" y="2926080"/>
            <a:ext cx="457200" cy="457200"/>
          </a:xfrm>
          <a:prstGeom prst="ellipse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80160" y="2834639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3A8A"/>
                </a:solidFill>
              </a:defRPr>
            </a:pPr>
            <a:r>
              <a:t>Echtzeit-Sync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32004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F2937"/>
                </a:solidFill>
              </a:defRPr>
            </a:pPr>
            <a:r>
              <a:t>Firebase-basierte Kommentar-Synchronisation im Team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2743200"/>
            <a:ext cx="5303520" cy="1097280"/>
          </a:xfrm>
          <a:prstGeom prst="roundRect">
            <a:avLst/>
          </a:prstGeom>
          <a:solidFill>
            <a:srgbClr val="F8FAFC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00800" y="2926080"/>
            <a:ext cx="457200" cy="457200"/>
          </a:xfrm>
          <a:prstGeom prst="ellipse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40879" y="2834639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3A8A"/>
                </a:solidFill>
              </a:defRPr>
            </a:pPr>
            <a:r>
              <a:t>Excel-Integration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79" y="32004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F2937"/>
                </a:solidFill>
              </a:defRPr>
            </a:pPr>
            <a:r>
              <a:t>Nahtloser Import bestehender Daten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4023360"/>
            <a:ext cx="5303520" cy="1097280"/>
          </a:xfrm>
          <a:prstGeom prst="roundRect">
            <a:avLst/>
          </a:prstGeom>
          <a:solidFill>
            <a:srgbClr val="F8FAFC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0080" y="4206240"/>
            <a:ext cx="457200" cy="457200"/>
          </a:xfrm>
          <a:prstGeom prst="ellipse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280160" y="411480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3A8A"/>
                </a:solidFill>
              </a:defRPr>
            </a:pPr>
            <a:r>
              <a:t>Moderne UI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0160" y="448056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F2937"/>
                </a:solidFill>
              </a:defRPr>
            </a:pPr>
            <a:r>
              <a:t>Intuitive Benutzeroberfläche mit TailwindCSS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4023360"/>
            <a:ext cx="5303520" cy="1097280"/>
          </a:xfrm>
          <a:prstGeom prst="roundRect">
            <a:avLst/>
          </a:prstGeom>
          <a:solidFill>
            <a:srgbClr val="F8FAFC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400800" y="4206240"/>
            <a:ext cx="457200" cy="457200"/>
          </a:xfrm>
          <a:prstGeom prst="ellipse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040879" y="411480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3A8A"/>
                </a:solidFill>
              </a:defRPr>
            </a:pPr>
            <a:r>
              <a:t>Erweiterbar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40879" y="448056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F2937"/>
                </a:solidFill>
              </a:defRPr>
            </a:pPr>
            <a:r>
              <a:t>Modulare Architektur für zukünftige Features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53035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6B7280"/>
                </a:solidFill>
              </a:defRPr>
            </a:pPr>
            <a:r>
              <a:t>Tech-Stack: React + TypeScript + TailwindCSS + IndexedDB + Firebase + Recharts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394960" y="1371600"/>
            <a:ext cx="1371600" cy="13716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Vielen Dank!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11480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BFDBFE"/>
                </a:solidFill>
              </a:defRPr>
            </a:pPr>
            <a:r>
              <a:t>Fragen &amp; Diskussion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486400"/>
            <a:ext cx="11274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93C5FD"/>
                </a:solidFill>
              </a:defRPr>
            </a:pPr>
            <a:r>
              <a:t>GALADRIEL - Business Intelligence Dashboard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